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02" autoAdjust="0"/>
    <p:restoredTop sz="94660"/>
  </p:normalViewPr>
  <p:slideViewPr>
    <p:cSldViewPr snapToGrid="0">
      <p:cViewPr>
        <p:scale>
          <a:sx n="100" d="100"/>
          <a:sy n="100" d="100"/>
        </p:scale>
        <p:origin x="7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184F-4310-41FA-9BBA-276B5764AD4F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0A019-30FE-4FEC-B547-9EF7FAB7CF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827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184F-4310-41FA-9BBA-276B5764AD4F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0A019-30FE-4FEC-B547-9EF7FAB7CF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7178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184F-4310-41FA-9BBA-276B5764AD4F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0A019-30FE-4FEC-B547-9EF7FAB7CF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38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184F-4310-41FA-9BBA-276B5764AD4F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0A019-30FE-4FEC-B547-9EF7FAB7CF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1078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184F-4310-41FA-9BBA-276B5764AD4F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0A019-30FE-4FEC-B547-9EF7FAB7CF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9480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184F-4310-41FA-9BBA-276B5764AD4F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0A019-30FE-4FEC-B547-9EF7FAB7CF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4108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184F-4310-41FA-9BBA-276B5764AD4F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0A019-30FE-4FEC-B547-9EF7FAB7CF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407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184F-4310-41FA-9BBA-276B5764AD4F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0A019-30FE-4FEC-B547-9EF7FAB7CF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2854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184F-4310-41FA-9BBA-276B5764AD4F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0A019-30FE-4FEC-B547-9EF7FAB7CF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993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184F-4310-41FA-9BBA-276B5764AD4F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0A019-30FE-4FEC-B547-9EF7FAB7CF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051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184F-4310-41FA-9BBA-276B5764AD4F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0A019-30FE-4FEC-B547-9EF7FAB7CF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61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Титульный с кластерами - Заголовок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256510" y="6213849"/>
            <a:ext cx="3459560" cy="108000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450"/>
              </a:spcBef>
              <a:spcAft>
                <a:spcPts val="0"/>
              </a:spcAft>
              <a:buNone/>
              <a:defRPr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ДАТА</a:t>
            </a:r>
            <a:endParaRPr/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286656" y="5760621"/>
            <a:ext cx="3459568" cy="108000"/>
          </a:xfrm>
        </p:spPr>
        <p:txBody>
          <a:bodyPr vert="horz" lIns="0" tIns="0" rIns="0" bIns="0" rtlCol="0" anchor="t" anchorCtr="0">
            <a:noAutofit/>
          </a:bodyPr>
          <a:lstStyle>
            <a:lvl1pPr marL="0" indent="64293">
              <a:buNone/>
              <a:defRPr lang="en-US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450"/>
              </a:spcBef>
              <a:defRPr/>
            </a:pPr>
            <a:r>
              <a:rPr lang="en-US" dirty="0"/>
              <a:t>PETROV.PP@GAZPROM-NEFT.RU</a:t>
            </a:r>
            <a:endParaRPr lang="ru-RU" dirty="0"/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286656" y="5590538"/>
            <a:ext cx="3459568" cy="108000"/>
          </a:xfrm>
        </p:spPr>
        <p:txBody>
          <a:bodyPr vert="horz" lIns="0" tIns="0" rIns="0" bIns="0" rtlCol="0" anchor="t" anchorCtr="0">
            <a:noAutofit/>
          </a:bodyPr>
          <a:lstStyle>
            <a:lvl1pPr marL="0" indent="64293">
              <a:buNone/>
              <a:defRPr lang="en-US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450"/>
              </a:spcBef>
              <a:defRPr/>
            </a:pPr>
            <a:r>
              <a:rPr lang="ru-RU"/>
              <a:t>И.О. </a:t>
            </a:r>
            <a:r>
              <a:rPr lang="en-US"/>
              <a:t>Ф</a:t>
            </a:r>
            <a:r>
              <a:rPr lang="ru-RU"/>
              <a:t>АМИЛИЯ</a:t>
            </a:r>
            <a:endParaRPr/>
          </a:p>
        </p:txBody>
      </p:sp>
      <p:sp>
        <p:nvSpPr>
          <p:cNvPr id="48" name="Text Placeholder 5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286656" y="5201002"/>
            <a:ext cx="3459568" cy="108000"/>
          </a:xfrm>
        </p:spPr>
        <p:txBody>
          <a:bodyPr vert="horz" lIns="0" tIns="0" rIns="0" bIns="0" rtlCol="0" anchor="t" anchorCtr="0">
            <a:noAutofit/>
          </a:bodyPr>
          <a:lstStyle>
            <a:lvl1pPr marL="0" indent="64293">
              <a:buNone/>
              <a:defRPr lang="en-US" sz="1000" b="0" i="0" cap="none">
                <a:solidFill>
                  <a:srgbClr val="7E7E7E"/>
                </a:solidFill>
                <a:latin typeface="GPN_DIN Condensed Bold"/>
                <a:ea typeface="GPN_DIN Condensed Bold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>
              <a:spcBef>
                <a:spcPts val="450"/>
              </a:spcBef>
              <a:defRPr/>
            </a:pPr>
            <a:r>
              <a:rPr lang="ru-RU" dirty="0"/>
              <a:t>НАЗВАНИЕ СТРУКТУРНОГО ПОДРАЗДЕЛЕНИЯ</a:t>
            </a:r>
            <a:endParaRPr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256114" y="6380539"/>
            <a:ext cx="3459956" cy="108001"/>
          </a:xfrm>
        </p:spPr>
        <p:txBody>
          <a:bodyPr/>
          <a:lstStyle>
            <a:lvl1pPr marL="0" indent="0">
              <a:buNone/>
              <a:defRPr lang="ru-RU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ВЕРСИЯ</a:t>
            </a:r>
            <a:endParaRPr/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101805" y="6360442"/>
            <a:ext cx="2718197" cy="107998"/>
          </a:xfrm>
        </p:spPr>
        <p:txBody>
          <a:bodyPr/>
          <a:lstStyle>
            <a:lvl1pPr>
              <a:lnSpc>
                <a:spcPct val="100000"/>
              </a:lnSpc>
              <a:spcBef>
                <a:spcPts val="225"/>
              </a:spcBef>
              <a:defRPr lang="ru-RU" sz="900" b="0" i="0" cap="none">
                <a:solidFill>
                  <a:srgbClr val="7E7E7E"/>
                </a:solidFill>
                <a:latin typeface="GPN_DIN Condensed Regular"/>
                <a:ea typeface="GPN_DIN Condensed Regular"/>
                <a:cs typeface="+mn-cs"/>
              </a:defRPr>
            </a:lvl1pPr>
          </a:lstStyle>
          <a:p>
            <a:pPr lvl="0">
              <a:defRPr/>
            </a:pPr>
            <a:r>
              <a:rPr lang="ru-RU"/>
              <a:t>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41836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Спасибо за внима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Текст 3"/>
          <p:cNvSpPr txBox="1"/>
          <p:nvPr userDrawn="1"/>
        </p:nvSpPr>
        <p:spPr bwMode="auto">
          <a:xfrm>
            <a:off x="3400628" y="3192944"/>
            <a:ext cx="5390744" cy="472112"/>
          </a:xfrm>
        </p:spPr>
        <p:txBody>
          <a:bodyPr/>
          <a:lstStyle>
            <a:lvl1pPr marL="0" indent="0" algn="l" defTabSz="9144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/>
              <a:buNone/>
              <a:defRPr sz="1800" b="1" cap="all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marR="0" indent="-266700" algn="l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9263" indent="-169862" algn="l" defTabSz="914400">
              <a:lnSpc>
                <a:spcPct val="90000"/>
              </a:lnSpc>
              <a:spcBef>
                <a:spcPts val="300"/>
              </a:spcBef>
              <a:buClr>
                <a:schemeClr val="accent3"/>
              </a:buClr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469C"/>
              </a:buClr>
              <a:buSzPct val="90000"/>
              <a:buFont typeface="Wingdings"/>
              <a:buNone/>
              <a:defRPr/>
            </a:pPr>
            <a:r>
              <a:rPr lang="ru-RU" sz="4000" b="0" i="0" u="none" strike="noStrike" cap="none" spc="0">
                <a:ln>
                  <a:noFill/>
                </a:ln>
                <a:solidFill>
                  <a:srgbClr val="004596"/>
                </a:solidFill>
                <a:latin typeface="GPN_DIN Condensed Bold"/>
                <a:ea typeface="GPN_DIN Condensed Bold"/>
                <a:cs typeface="+mn-cs"/>
              </a:rPr>
              <a:t>СПАСИБО ЗА ВНИМАНИЕ</a:t>
            </a:r>
            <a:endParaRPr/>
          </a:p>
        </p:txBody>
      </p:sp>
      <p:sp>
        <p:nvSpPr>
          <p:cNvPr id="4" name="Номер слайда 1"/>
          <p:cNvSpPr>
            <a:spLocks noGrp="1"/>
          </p:cNvSpPr>
          <p:nvPr>
            <p:ph type="sldNum" sz="quarter" idx="4"/>
          </p:nvPr>
        </p:nvSpPr>
        <p:spPr bwMode="auto">
          <a:xfrm>
            <a:off x="8724421" y="6307809"/>
            <a:ext cx="32220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GPN_DIN Condensed Regular"/>
                <a:ea typeface="GPN_DIN Condensed Regular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latin typeface="GPN_DIN Condensed Regular"/>
                <a:ea typeface="GPN_DIN Condensed Regular"/>
                <a:cs typeface="+mn-cs"/>
              </a:rPr>
              <a:t>ГАЗПРОМ НЕФТЬ   </a:t>
            </a:r>
            <a:fld id="{D58DDE06-DF15-0A4F-A85A-4EB38848D8EB}" type="slidenum">
              <a:rPr lang="ru-RU" sz="900" b="0" i="0" u="none" strike="noStrike" cap="none" spc="0">
                <a:ln>
                  <a:noFill/>
                </a:ln>
                <a:solidFill>
                  <a:srgbClr val="7E7E7F">
                    <a:tint val="75000"/>
                  </a:srgbClr>
                </a:solidFill>
                <a:latin typeface="GPN_DIN Condensed Regular"/>
                <a:ea typeface="GPN_DIN Condensed Regular"/>
                <a:cs typeface="+mn-cs"/>
              </a:rPr>
              <a:t>‹#›</a:t>
            </a:fld>
            <a:endParaRPr lang="ru-RU" sz="900" b="0" i="0" u="none" strike="noStrike" cap="none" spc="0">
              <a:ln>
                <a:noFill/>
              </a:ln>
              <a:solidFill>
                <a:srgbClr val="7E7E7F">
                  <a:tint val="75000"/>
                </a:srgbClr>
              </a:solidFill>
              <a:latin typeface="GPN_DIN Condensed Regular"/>
              <a:ea typeface="GPN_DIN Condensed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2754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6184F-4310-41FA-9BBA-276B5764AD4F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0A019-30FE-4FEC-B547-9EF7FAB7CF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749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ctrTitle" idx="4294967295"/>
          </p:nvPr>
        </p:nvSpPr>
        <p:spPr bwMode="auto">
          <a:xfrm>
            <a:off x="751438" y="416459"/>
            <a:ext cx="10859537" cy="3276834"/>
          </a:xfrm>
        </p:spPr>
        <p:txBody>
          <a:bodyPr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800" b="1" i="0" u="none" strike="noStrike" cap="all" spc="0" dirty="0" smtClean="0">
                <a:ln>
                  <a:noFill/>
                </a:ln>
                <a:solidFill>
                  <a:schemeClr val="tx1"/>
                </a:solidFill>
                <a:latin typeface="PT Sans Narrow"/>
                <a:ea typeface="PT Sans Narrow"/>
                <a:cs typeface="PT Sans Narrow"/>
              </a:rPr>
              <a:t>Как </a:t>
            </a:r>
            <a:r>
              <a:rPr lang="ru-RU" sz="2800" b="1" i="0" u="none" strike="noStrike" cap="all" spc="0" dirty="0">
                <a:ln>
                  <a:noFill/>
                </a:ln>
                <a:solidFill>
                  <a:schemeClr val="tx1"/>
                </a:solidFill>
                <a:latin typeface="PT Sans Narrow"/>
                <a:ea typeface="PT Sans Narrow"/>
                <a:cs typeface="PT Sans Narrow"/>
              </a:rPr>
              <a:t>микроконтроллер в умных колонках работает с нейронными сетями</a:t>
            </a:r>
            <a:endParaRPr sz="2800" b="1" i="0" u="none" strike="noStrike" cap="all" spc="0" dirty="0">
              <a:ln>
                <a:noFill/>
              </a:ln>
              <a:solidFill>
                <a:schemeClr val="tx1"/>
              </a:solidFill>
              <a:latin typeface="PT Sans Narrow"/>
              <a:cs typeface="PT Sans Narrow"/>
            </a:endParaRPr>
          </a:p>
        </p:txBody>
      </p:sp>
      <p:sp>
        <p:nvSpPr>
          <p:cNvPr id="851345541" name="Subtitle 5"/>
          <p:cNvSpPr>
            <a:spLocks noGrp="1"/>
          </p:cNvSpPr>
          <p:nvPr>
            <p:ph type="subTitle" idx="4294967295"/>
          </p:nvPr>
        </p:nvSpPr>
        <p:spPr bwMode="auto">
          <a:xfrm>
            <a:off x="0" y="6213475"/>
            <a:ext cx="3460750" cy="107950"/>
          </a:xfrm>
        </p:spPr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en-US" dirty="0" smtClean="0">
                <a:latin typeface="PT Sans Narrow"/>
                <a:cs typeface="PT Sans Narrow"/>
              </a:rPr>
              <a:t> </a:t>
            </a:r>
            <a:endParaRPr dirty="0">
              <a:latin typeface="PT Sans Narrow"/>
              <a:cs typeface="PT Sans Narrow"/>
            </a:endParaRPr>
          </a:p>
        </p:txBody>
      </p:sp>
      <p:sp>
        <p:nvSpPr>
          <p:cNvPr id="2026087639" name="Text Placeholder 5"/>
          <p:cNvSpPr>
            <a:spLocks noGrp="1"/>
          </p:cNvSpPr>
          <p:nvPr>
            <p:ph type="body" sz="quarter" idx="4294967295" hasCustomPrompt="1"/>
          </p:nvPr>
        </p:nvSpPr>
        <p:spPr bwMode="auto">
          <a:xfrm>
            <a:off x="0" y="5665788"/>
            <a:ext cx="3460750" cy="157162"/>
          </a:xfrm>
        </p:spPr>
        <p:txBody>
          <a:bodyPr vert="horz" lIns="0" tIns="0" rIns="0" bIns="0" rtlCol="0" anchor="t" anchorCtr="0">
            <a:noAutofit/>
          </a:bodyPr>
          <a:lstStyle>
            <a:lvl1pPr marL="0" indent="64292">
              <a:buNone/>
              <a:defRPr lang="en-US" sz="1000" b="0" i="0" cap="none">
                <a:solidFill>
                  <a:srgbClr val="7E7E7E"/>
                </a:solidFill>
                <a:latin typeface="GPN_DIN Condensed Regular"/>
                <a:ea typeface="GPN_DIN Condensed Regular"/>
              </a:defRPr>
            </a:lvl1pPr>
            <a:lvl2pPr>
              <a:defRPr lang="en-US">
                <a:solidFill>
                  <a:schemeClr val="tx1">
                    <a:tint val="75000"/>
                  </a:schemeClr>
                </a:solidFill>
              </a:defRPr>
            </a:lvl2pPr>
            <a:lvl3pPr>
              <a:defRPr lang="en-US">
                <a:solidFill>
                  <a:schemeClr val="tx1">
                    <a:tint val="75000"/>
                  </a:schemeClr>
                </a:solidFill>
              </a:defRPr>
            </a:lvl3pPr>
            <a:lvl4pPr>
              <a:defRPr lang="en-US">
                <a:solidFill>
                  <a:schemeClr val="tx1">
                    <a:tint val="75000"/>
                  </a:schemeClr>
                </a:solidFill>
              </a:defRPr>
            </a:lvl4pPr>
            <a:lvl5pPr>
              <a:defRPr lang="ru-RU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>
              <a:defRPr/>
            </a:pPr>
            <a:r>
              <a:rPr dirty="0" smtClean="0">
                <a:latin typeface="PT Sans Narrow"/>
                <a:cs typeface="PT Sans Narrow"/>
              </a:rPr>
              <a:t> </a:t>
            </a:r>
            <a:endParaRPr dirty="0">
              <a:latin typeface="PT Sans Narrow"/>
              <a:cs typeface="PT Sans Narrow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8695141" y="4288525"/>
            <a:ext cx="246028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dirty="0" err="1">
                <a:latin typeface="PT Sans Narrow"/>
                <a:ea typeface="PT Sans Narrow"/>
                <a:cs typeface="PT Sans Narrow"/>
              </a:rPr>
              <a:t>Скоржинский</a:t>
            </a:r>
            <a:r>
              <a:rPr lang="ru-RU" dirty="0">
                <a:latin typeface="PT Sans Narrow"/>
                <a:ea typeface="PT Sans Narrow"/>
                <a:cs typeface="PT Sans Narrow"/>
              </a:rPr>
              <a:t> </a:t>
            </a:r>
            <a:r>
              <a:rPr lang="ru-RU" dirty="0" smtClean="0">
                <a:latin typeface="PT Sans Narrow"/>
                <a:ea typeface="PT Sans Narrow"/>
                <a:cs typeface="PT Sans Narrow"/>
              </a:rPr>
              <a:t>Андрей</a:t>
            </a:r>
          </a:p>
          <a:p>
            <a:pPr>
              <a:defRPr/>
            </a:pPr>
            <a:r>
              <a:rPr lang="en-US" dirty="0" smtClean="0">
                <a:latin typeface="PT Sans Narrow"/>
                <a:cs typeface="PT Sans Narrow"/>
              </a:rPr>
              <a:t>&amp;</a:t>
            </a:r>
          </a:p>
          <a:p>
            <a:pPr>
              <a:defRPr/>
            </a:pPr>
            <a:r>
              <a:rPr lang="en-US" dirty="0" err="1" smtClean="0">
                <a:latin typeface="PT Sans Narrow"/>
                <a:cs typeface="PT Sans Narrow"/>
              </a:rPr>
              <a:t>belKa's</a:t>
            </a:r>
            <a:r>
              <a:rPr lang="en-US" dirty="0" smtClean="0">
                <a:latin typeface="PT Sans Narrow"/>
                <a:cs typeface="PT Sans Narrow"/>
              </a:rPr>
              <a:t> </a:t>
            </a:r>
            <a:r>
              <a:rPr lang="en-US" dirty="0">
                <a:latin typeface="PT Sans Narrow"/>
                <a:cs typeface="PT Sans Narrow"/>
              </a:rPr>
              <a:t>electronics</a:t>
            </a:r>
            <a:endParaRPr lang="ru-RU" dirty="0">
              <a:latin typeface="PT Sans Narrow"/>
              <a:cs typeface="PT Sans Narrow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380424" y="5952093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dirty="0" smtClean="0">
                <a:latin typeface="PT Sans Narrow"/>
                <a:ea typeface="PT Sans Narrow"/>
                <a:cs typeface="PT Sans Narrow"/>
              </a:rPr>
              <a:t>13.04.2025</a:t>
            </a:r>
            <a:endParaRPr lang="ru-RU" dirty="0">
              <a:latin typeface="PT Sans Narrow"/>
              <a:cs typeface="PT Sans Narrow"/>
            </a:endParaRPr>
          </a:p>
        </p:txBody>
      </p:sp>
    </p:spTree>
    <p:extLst>
      <p:ext uri="{BB962C8B-B14F-4D97-AF65-F5344CB8AC3E}">
        <p14:creationId xmlns:p14="http://schemas.microsoft.com/office/powerpoint/2010/main" val="2881020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408439" y="325127"/>
            <a:ext cx="11375124" cy="610499"/>
          </a:xfrm>
        </p:spPr>
        <p:txBody>
          <a:bodyPr tIns="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0"/>
              </a:spcBef>
              <a:buNone/>
              <a:defRPr lang="ru-RU" sz="2800" b="0" i="0" u="none" strike="noStrike" cap="all" spc="0">
                <a:ln>
                  <a:noFill/>
                </a:ln>
                <a:solidFill>
                  <a:srgbClr val="7E7E7E"/>
                </a:solidFill>
                <a:latin typeface="GPN_DIN Condensed Medium"/>
                <a:ea typeface="GPN_DIN Condensed Medium"/>
                <a:cs typeface="+mj-cs"/>
              </a:defRPr>
            </a:lvl1pPr>
          </a:lstStyle>
          <a:p>
            <a:r>
              <a:rPr lang="ru-RU" dirty="0">
                <a:solidFill>
                  <a:schemeClr val="tx2"/>
                </a:solidFill>
              </a:rPr>
              <a:t>Что вам нужно знать о голосовых </a:t>
            </a:r>
            <a:r>
              <a:rPr lang="ru-RU" dirty="0" smtClean="0">
                <a:solidFill>
                  <a:schemeClr val="tx2"/>
                </a:solidFill>
              </a:rPr>
              <a:t>помощниках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7208566-BC53-4561-8157-C1EB2B0A850C}"/>
              </a:ext>
            </a:extLst>
          </p:cNvPr>
          <p:cNvSpPr/>
          <p:nvPr/>
        </p:nvSpPr>
        <p:spPr>
          <a:xfrm>
            <a:off x="410371" y="1881188"/>
            <a:ext cx="7485854" cy="4427537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410371" y="1268413"/>
            <a:ext cx="7485854" cy="122396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 smtClean="0">
              <a:solidFill>
                <a:schemeClr val="tx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0E19636-1074-4947-905A-C45F0C67827C}"/>
              </a:ext>
            </a:extLst>
          </p:cNvPr>
          <p:cNvSpPr/>
          <p:nvPr/>
        </p:nvSpPr>
        <p:spPr>
          <a:xfrm>
            <a:off x="1657211" y="1612627"/>
            <a:ext cx="3688512" cy="62703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2400" dirty="0" smtClean="0">
                <a:solidFill>
                  <a:schemeClr val="bg1"/>
                </a:solidFill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Голосовой </a:t>
            </a:r>
            <a:r>
              <a:rPr lang="ru-RU" sz="3200" dirty="0" smtClean="0">
                <a:solidFill>
                  <a:schemeClr val="bg1"/>
                </a:solidFill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помощник</a:t>
            </a:r>
            <a:endParaRPr lang="ru-RU" sz="3200" dirty="0">
              <a:solidFill>
                <a:schemeClr val="bg1"/>
              </a:solidFill>
              <a:latin typeface="GPN_DIN Condensed Bold" panose="020B0706020202020204" pitchFamily="34" charset="-52"/>
              <a:ea typeface="GPN_DIN Condensed Bold" panose="020B0706020202020204" pitchFamily="34" charset="-52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0F1EDE-F121-43AB-A857-9A36AFC1C5D6}"/>
              </a:ext>
            </a:extLst>
          </p:cNvPr>
          <p:cNvSpPr txBox="1"/>
          <p:nvPr/>
        </p:nvSpPr>
        <p:spPr>
          <a:xfrm>
            <a:off x="572483" y="2636196"/>
            <a:ext cx="7181848" cy="3222799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>
              <a:spcBef>
                <a:spcPts val="1200"/>
              </a:spcBef>
            </a:pPr>
            <a:r>
              <a:rPr lang="ru-RU" dirty="0"/>
              <a:t>Э</a:t>
            </a:r>
            <a:r>
              <a:rPr lang="ru-RU" dirty="0" smtClean="0"/>
              <a:t>то </a:t>
            </a:r>
            <a:r>
              <a:rPr lang="ru-RU" smtClean="0"/>
              <a:t>интеллектуальная </a:t>
            </a:r>
            <a:r>
              <a:rPr lang="ru-RU" smtClean="0"/>
              <a:t>программа, </a:t>
            </a:r>
            <a:r>
              <a:rPr lang="ru-RU" dirty="0" smtClean="0"/>
              <a:t>основанная </a:t>
            </a:r>
            <a:r>
              <a:rPr lang="ru-RU" dirty="0"/>
              <a:t>на искусственном интеллекте, </a:t>
            </a:r>
            <a:r>
              <a:rPr lang="ru-RU" dirty="0" smtClean="0"/>
              <a:t>которая позволяет </a:t>
            </a:r>
            <a:r>
              <a:rPr lang="ru-RU" dirty="0"/>
              <a:t>беспрепятственно взаимодействовать с </a:t>
            </a:r>
            <a:r>
              <a:rPr lang="ru-RU" dirty="0" smtClean="0"/>
              <a:t>устройствами </a:t>
            </a:r>
            <a:r>
              <a:rPr lang="ru-RU" dirty="0"/>
              <a:t>или </a:t>
            </a:r>
            <a:r>
              <a:rPr lang="ru-RU" dirty="0" smtClean="0"/>
              <a:t>сервисами </a:t>
            </a:r>
            <a:r>
              <a:rPr lang="ru-RU" dirty="0"/>
              <a:t>с помощью естественного </a:t>
            </a:r>
            <a:r>
              <a:rPr lang="ru-RU" dirty="0" smtClean="0"/>
              <a:t>языка.</a:t>
            </a:r>
            <a:endParaRPr lang="ru-RU" dirty="0">
              <a:solidFill>
                <a:schemeClr val="accent4"/>
              </a:solidFill>
              <a:cs typeface="Arial" panose="020B0604020202020204" pitchFamily="34" charset="0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39" y="1394460"/>
            <a:ext cx="1149384" cy="97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772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408439" y="325127"/>
            <a:ext cx="11375124" cy="610499"/>
          </a:xfrm>
        </p:spPr>
        <p:txBody>
          <a:bodyPr tIns="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0"/>
              </a:spcBef>
              <a:buNone/>
              <a:defRPr lang="ru-RU" sz="2800" b="0" i="0" u="none" strike="noStrike" cap="all" spc="0">
                <a:ln>
                  <a:noFill/>
                </a:ln>
                <a:solidFill>
                  <a:srgbClr val="7E7E7E"/>
                </a:solidFill>
                <a:latin typeface="GPN_DIN Condensed Medium"/>
                <a:ea typeface="GPN_DIN Condensed Medium"/>
                <a:cs typeface="+mj-cs"/>
              </a:defRPr>
            </a:lvl1pPr>
          </a:lstStyle>
          <a:p>
            <a:r>
              <a:rPr lang="ru-RU" dirty="0"/>
              <a:t>Что вам нужно знать о голосовых </a:t>
            </a:r>
            <a:r>
              <a:rPr lang="ru-RU" dirty="0" smtClean="0"/>
              <a:t>помощниках</a:t>
            </a:r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7208566-BC53-4561-8157-C1EB2B0A850C}"/>
              </a:ext>
            </a:extLst>
          </p:cNvPr>
          <p:cNvSpPr/>
          <p:nvPr/>
        </p:nvSpPr>
        <p:spPr>
          <a:xfrm>
            <a:off x="410371" y="1881188"/>
            <a:ext cx="7485854" cy="4427537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410371" y="1268413"/>
            <a:ext cx="7485854" cy="122396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 smtClean="0">
              <a:solidFill>
                <a:schemeClr val="tx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0E19636-1074-4947-905A-C45F0C67827C}"/>
              </a:ext>
            </a:extLst>
          </p:cNvPr>
          <p:cNvSpPr/>
          <p:nvPr/>
        </p:nvSpPr>
        <p:spPr>
          <a:xfrm>
            <a:off x="1416049" y="1612629"/>
            <a:ext cx="6130059" cy="6093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2800" dirty="0" smtClean="0">
                <a:solidFill>
                  <a:schemeClr val="bg1"/>
                </a:solidFill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Устройство с голосовым интерфейсом</a:t>
            </a:r>
            <a:endParaRPr lang="ru-RU" sz="2800" dirty="0">
              <a:solidFill>
                <a:schemeClr val="bg1"/>
              </a:solidFill>
              <a:latin typeface="GPN_DIN Condensed Bold" panose="020B0706020202020204" pitchFamily="34" charset="-52"/>
              <a:ea typeface="GPN_DIN Condensed Bold" panose="020B0706020202020204" pitchFamily="34" charset="-52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0F1EDE-F121-43AB-A857-9A36AFC1C5D6}"/>
              </a:ext>
            </a:extLst>
          </p:cNvPr>
          <p:cNvSpPr txBox="1"/>
          <p:nvPr/>
        </p:nvSpPr>
        <p:spPr>
          <a:xfrm>
            <a:off x="572483" y="2636196"/>
            <a:ext cx="7181848" cy="3222799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>
              <a:spcBef>
                <a:spcPts val="1200"/>
              </a:spcBef>
            </a:pPr>
            <a:r>
              <a:rPr lang="ru-RU" dirty="0" smtClean="0">
                <a:cs typeface="Arial" panose="020B0604020202020204" pitchFamily="34" charset="0"/>
              </a:rPr>
              <a:t>Это </a:t>
            </a:r>
            <a:r>
              <a:rPr lang="ru-RU" dirty="0">
                <a:cs typeface="Arial" panose="020B0604020202020204" pitchFamily="34" charset="0"/>
              </a:rPr>
              <a:t>устройства голосового управления со встроенным </a:t>
            </a:r>
            <a:r>
              <a:rPr lang="ru-RU" dirty="0" smtClean="0">
                <a:cs typeface="Arial" panose="020B0604020202020204" pitchFamily="34" charset="0"/>
              </a:rPr>
              <a:t>голосовым помощником, которые предлагают </a:t>
            </a:r>
            <a:r>
              <a:rPr lang="ru-RU" dirty="0">
                <a:cs typeface="Arial" panose="020B0604020202020204" pitchFamily="34" charset="0"/>
              </a:rPr>
              <a:t>интерактивные действия и активацию без помощи </a:t>
            </a:r>
            <a:r>
              <a:rPr lang="ru-RU" dirty="0" smtClean="0">
                <a:cs typeface="Arial" panose="020B0604020202020204" pitchFamily="34" charset="0"/>
              </a:rPr>
              <a:t>рук.</a:t>
            </a:r>
            <a:endParaRPr lang="ru-RU" dirty="0">
              <a:cs typeface="Arial" panose="020B0604020202020204" pitchFamily="34" charset="0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56" y="1318031"/>
            <a:ext cx="1016172" cy="108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90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7208566-BC53-4561-8157-C1EB2B0A850C}"/>
              </a:ext>
            </a:extLst>
          </p:cNvPr>
          <p:cNvSpPr/>
          <p:nvPr/>
        </p:nvSpPr>
        <p:spPr>
          <a:xfrm>
            <a:off x="410371" y="784860"/>
            <a:ext cx="11373192" cy="5034915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5138734" y="1154162"/>
            <a:ext cx="2400300" cy="1291173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 smtClean="0">
              <a:solidFill>
                <a:schemeClr val="tx1"/>
              </a:solidFill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408439" y="325127"/>
            <a:ext cx="11375124" cy="610499"/>
          </a:xfrm>
        </p:spPr>
        <p:txBody>
          <a:bodyPr tIns="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0"/>
              </a:spcBef>
              <a:buNone/>
              <a:defRPr lang="ru-RU" sz="2800" b="0" i="0" u="none" strike="noStrike" cap="all" spc="0">
                <a:ln>
                  <a:noFill/>
                </a:ln>
                <a:solidFill>
                  <a:srgbClr val="7E7E7E"/>
                </a:solidFill>
                <a:latin typeface="GPN_DIN Condensed Medium"/>
                <a:ea typeface="GPN_DIN Condensed Medium"/>
                <a:cs typeface="+mj-cs"/>
              </a:defRPr>
            </a:lvl1pPr>
          </a:lstStyle>
          <a:p>
            <a:r>
              <a:rPr lang="ru-RU" dirty="0" smtClean="0">
                <a:solidFill>
                  <a:schemeClr val="tx1"/>
                </a:solidFill>
              </a:rPr>
              <a:t>Как работает голосовой помощник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0F1EDE-F121-43AB-A857-9A36AFC1C5D6}"/>
              </a:ext>
            </a:extLst>
          </p:cNvPr>
          <p:cNvSpPr txBox="1"/>
          <p:nvPr/>
        </p:nvSpPr>
        <p:spPr>
          <a:xfrm>
            <a:off x="5238089" y="1289678"/>
            <a:ext cx="2300945" cy="1155658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algn="ctr">
              <a:spcBef>
                <a:spcPts val="1200"/>
              </a:spcBef>
            </a:pPr>
            <a:r>
              <a:rPr lang="en-US" dirty="0" smtClean="0">
                <a:solidFill>
                  <a:schemeClr val="bg1"/>
                </a:solidFill>
                <a:cs typeface="Arial" panose="020B0604020202020204" pitchFamily="34" charset="0"/>
              </a:rPr>
              <a:t>ASR</a:t>
            </a:r>
            <a:endParaRPr lang="ru-RU" dirty="0" smtClean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algn="ctr">
              <a:spcBef>
                <a:spcPts val="1200"/>
              </a:spcBef>
            </a:pPr>
            <a:r>
              <a:rPr lang="ru-RU" dirty="0" smtClean="0">
                <a:solidFill>
                  <a:schemeClr val="bg1"/>
                </a:solidFill>
                <a:cs typeface="Arial" panose="020B0604020202020204" pitchFamily="34" charset="0"/>
              </a:rPr>
              <a:t>автоматическое распознавание </a:t>
            </a:r>
            <a:r>
              <a:rPr lang="ru-RU" dirty="0">
                <a:solidFill>
                  <a:schemeClr val="bg1"/>
                </a:solidFill>
                <a:cs typeface="Arial" panose="020B0604020202020204" pitchFamily="34" charset="0"/>
              </a:rPr>
              <a:t>речи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355" y="1557337"/>
            <a:ext cx="830875" cy="887998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>
          <a:xfrm>
            <a:off x="8691559" y="1154162"/>
            <a:ext cx="2400300" cy="1291173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 smtClean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0F1EDE-F121-43AB-A857-9A36AFC1C5D6}"/>
              </a:ext>
            </a:extLst>
          </p:cNvPr>
          <p:cNvSpPr txBox="1"/>
          <p:nvPr/>
        </p:nvSpPr>
        <p:spPr>
          <a:xfrm>
            <a:off x="8700423" y="1154162"/>
            <a:ext cx="2300945" cy="1155658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algn="ctr">
              <a:spcBef>
                <a:spcPts val="1200"/>
              </a:spcBef>
            </a:pPr>
            <a:r>
              <a:rPr lang="en-US" dirty="0" smtClean="0">
                <a:solidFill>
                  <a:schemeClr val="bg1"/>
                </a:solidFill>
                <a:cs typeface="Arial" panose="020B0604020202020204" pitchFamily="34" charset="0"/>
              </a:rPr>
              <a:t>NLP</a:t>
            </a:r>
            <a:endParaRPr lang="ru-RU" dirty="0" smtClean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algn="ctr">
              <a:spcBef>
                <a:spcPts val="1200"/>
              </a:spcBef>
            </a:pPr>
            <a:r>
              <a:rPr lang="ru-RU" dirty="0">
                <a:solidFill>
                  <a:schemeClr val="bg1"/>
                </a:solidFill>
                <a:cs typeface="Arial" panose="020B0604020202020204" pitchFamily="34" charset="0"/>
              </a:rPr>
              <a:t>процессор естественного языка 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5238089" y="4278362"/>
            <a:ext cx="2400300" cy="1291173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 smtClean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0F1EDE-F121-43AB-A857-9A36AFC1C5D6}"/>
              </a:ext>
            </a:extLst>
          </p:cNvPr>
          <p:cNvSpPr txBox="1"/>
          <p:nvPr/>
        </p:nvSpPr>
        <p:spPr>
          <a:xfrm>
            <a:off x="5337444" y="4413878"/>
            <a:ext cx="2300945" cy="1155658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algn="ctr">
              <a:spcBef>
                <a:spcPts val="1200"/>
              </a:spcBef>
            </a:pPr>
            <a:r>
              <a:rPr lang="ru-RU" dirty="0" smtClean="0">
                <a:solidFill>
                  <a:schemeClr val="bg1"/>
                </a:solidFill>
                <a:cs typeface="Arial" panose="020B0604020202020204" pitchFamily="34" charset="0"/>
              </a:rPr>
              <a:t>Генерация </a:t>
            </a:r>
          </a:p>
          <a:p>
            <a:pPr algn="ctr">
              <a:spcBef>
                <a:spcPts val="1200"/>
              </a:spcBef>
            </a:pPr>
            <a:r>
              <a:rPr lang="ru-RU" dirty="0" smtClean="0">
                <a:solidFill>
                  <a:schemeClr val="bg1"/>
                </a:solidFill>
                <a:cs typeface="Arial" panose="020B0604020202020204" pitchFamily="34" charset="0"/>
              </a:rPr>
              <a:t>ответа</a:t>
            </a:r>
            <a:endParaRPr lang="ru-RU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8790914" y="4278362"/>
            <a:ext cx="2400300" cy="1291173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 smtClean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0F1EDE-F121-43AB-A857-9A36AFC1C5D6}"/>
              </a:ext>
            </a:extLst>
          </p:cNvPr>
          <p:cNvSpPr txBox="1"/>
          <p:nvPr/>
        </p:nvSpPr>
        <p:spPr>
          <a:xfrm>
            <a:off x="8790914" y="4278362"/>
            <a:ext cx="2300945" cy="1155658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algn="ctr">
              <a:spcBef>
                <a:spcPts val="1200"/>
              </a:spcBef>
            </a:pPr>
            <a:r>
              <a:rPr lang="ru-RU" dirty="0" smtClean="0">
                <a:solidFill>
                  <a:schemeClr val="bg1"/>
                </a:solidFill>
                <a:cs typeface="Arial" panose="020B0604020202020204" pitchFamily="34" charset="0"/>
              </a:rPr>
              <a:t>База знаний </a:t>
            </a:r>
          </a:p>
          <a:p>
            <a:pPr algn="ctr">
              <a:spcBef>
                <a:spcPts val="1200"/>
              </a:spcBef>
            </a:pPr>
            <a:r>
              <a:rPr lang="ru-RU" dirty="0" smtClean="0">
                <a:solidFill>
                  <a:schemeClr val="bg1"/>
                </a:solidFill>
                <a:cs typeface="Arial" panose="020B0604020202020204" pitchFamily="34" charset="0"/>
              </a:rPr>
              <a:t>или внешний источник</a:t>
            </a:r>
            <a:endParaRPr lang="ru-RU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1351889" y="4278362"/>
            <a:ext cx="2400300" cy="1291173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 smtClean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0F1EDE-F121-43AB-A857-9A36AFC1C5D6}"/>
              </a:ext>
            </a:extLst>
          </p:cNvPr>
          <p:cNvSpPr txBox="1"/>
          <p:nvPr/>
        </p:nvSpPr>
        <p:spPr>
          <a:xfrm>
            <a:off x="1451244" y="4413878"/>
            <a:ext cx="2300945" cy="1155658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algn="ctr">
              <a:spcBef>
                <a:spcPts val="1200"/>
              </a:spcBef>
            </a:pPr>
            <a:r>
              <a:rPr lang="en-US" dirty="0" smtClean="0">
                <a:solidFill>
                  <a:schemeClr val="bg1"/>
                </a:solidFill>
                <a:cs typeface="Arial" panose="020B0604020202020204" pitchFamily="34" charset="0"/>
              </a:rPr>
              <a:t>TTS</a:t>
            </a:r>
          </a:p>
          <a:p>
            <a:pPr algn="ctr">
              <a:spcBef>
                <a:spcPts val="1200"/>
              </a:spcBef>
            </a:pPr>
            <a:r>
              <a:rPr lang="ru-RU" dirty="0" smtClean="0">
                <a:solidFill>
                  <a:schemeClr val="bg1"/>
                </a:solidFill>
                <a:cs typeface="Arial" panose="020B0604020202020204" pitchFamily="34" charset="0"/>
              </a:rPr>
              <a:t>Преобразование текста в речь</a:t>
            </a:r>
            <a:endParaRPr lang="ru-RU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cxnSp>
        <p:nvCxnSpPr>
          <p:cNvPr id="7" name="Прямая со стрелкой 6"/>
          <p:cNvCxnSpPr/>
          <p:nvPr/>
        </p:nvCxnSpPr>
        <p:spPr>
          <a:xfrm>
            <a:off x="2990850" y="2001336"/>
            <a:ext cx="2057400" cy="0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C0F1EDE-F121-43AB-A857-9A36AFC1C5D6}"/>
              </a:ext>
            </a:extLst>
          </p:cNvPr>
          <p:cNvSpPr txBox="1"/>
          <p:nvPr/>
        </p:nvSpPr>
        <p:spPr>
          <a:xfrm>
            <a:off x="3257216" y="1579678"/>
            <a:ext cx="1349177" cy="374812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algn="ctr">
              <a:spcBef>
                <a:spcPts val="1200"/>
              </a:spcBef>
            </a:pPr>
            <a:r>
              <a:rPr lang="ru-RU" dirty="0" smtClean="0">
                <a:cs typeface="Arial" panose="020B0604020202020204" pitchFamily="34" charset="0"/>
              </a:rPr>
              <a:t>Речь</a:t>
            </a:r>
            <a:endParaRPr lang="ru-RU" dirty="0">
              <a:cs typeface="Arial" panose="020B0604020202020204" pitchFamily="34" charset="0"/>
            </a:endParaRPr>
          </a:p>
        </p:txBody>
      </p:sp>
      <p:cxnSp>
        <p:nvCxnSpPr>
          <p:cNvPr id="26" name="Прямая со стрелкой 25"/>
          <p:cNvCxnSpPr/>
          <p:nvPr/>
        </p:nvCxnSpPr>
        <p:spPr>
          <a:xfrm flipH="1" flipV="1">
            <a:off x="2394572" y="2605650"/>
            <a:ext cx="14220" cy="1471050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C0F1EDE-F121-43AB-A857-9A36AFC1C5D6}"/>
              </a:ext>
            </a:extLst>
          </p:cNvPr>
          <p:cNvSpPr txBox="1"/>
          <p:nvPr/>
        </p:nvSpPr>
        <p:spPr>
          <a:xfrm>
            <a:off x="2228651" y="3224793"/>
            <a:ext cx="1349177" cy="374812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algn="ctr">
              <a:spcBef>
                <a:spcPts val="1200"/>
              </a:spcBef>
            </a:pPr>
            <a:r>
              <a:rPr lang="ru-RU" dirty="0" smtClean="0">
                <a:cs typeface="Arial" panose="020B0604020202020204" pitchFamily="34" charset="0"/>
              </a:rPr>
              <a:t>Речь</a:t>
            </a:r>
            <a:endParaRPr lang="ru-RU" dirty="0">
              <a:cs typeface="Arial" panose="020B0604020202020204" pitchFamily="34" charset="0"/>
            </a:endParaRPr>
          </a:p>
        </p:txBody>
      </p:sp>
      <p:cxnSp>
        <p:nvCxnSpPr>
          <p:cNvPr id="30" name="Прямая со стрелкой 29"/>
          <p:cNvCxnSpPr/>
          <p:nvPr/>
        </p:nvCxnSpPr>
        <p:spPr>
          <a:xfrm flipV="1">
            <a:off x="7651948" y="1972972"/>
            <a:ext cx="954887" cy="14182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/>
          <p:nvPr/>
        </p:nvCxnSpPr>
        <p:spPr>
          <a:xfrm flipH="1">
            <a:off x="7737476" y="4923948"/>
            <a:ext cx="954084" cy="0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/>
          <p:nvPr/>
        </p:nvCxnSpPr>
        <p:spPr>
          <a:xfrm flipH="1">
            <a:off x="4019550" y="4962655"/>
            <a:ext cx="954084" cy="0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/>
          <p:nvPr/>
        </p:nvCxnSpPr>
        <p:spPr>
          <a:xfrm>
            <a:off x="9941386" y="2558652"/>
            <a:ext cx="0" cy="1518048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289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7208566-BC53-4561-8157-C1EB2B0A850C}"/>
              </a:ext>
            </a:extLst>
          </p:cNvPr>
          <p:cNvSpPr/>
          <p:nvPr/>
        </p:nvSpPr>
        <p:spPr>
          <a:xfrm>
            <a:off x="505621" y="688441"/>
            <a:ext cx="8914604" cy="5034915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408439" y="325127"/>
            <a:ext cx="11375124" cy="610499"/>
          </a:xfrm>
        </p:spPr>
        <p:txBody>
          <a:bodyPr tIns="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0"/>
              </a:spcBef>
              <a:buNone/>
              <a:defRPr lang="ru-RU" sz="2800" b="0" i="0" u="none" strike="noStrike" cap="all" spc="0">
                <a:ln>
                  <a:noFill/>
                </a:ln>
                <a:solidFill>
                  <a:srgbClr val="7E7E7E"/>
                </a:solidFill>
                <a:latin typeface="GPN_DIN Condensed Medium"/>
                <a:ea typeface="GPN_DIN Condensed Medium"/>
                <a:cs typeface="+mj-cs"/>
              </a:defRPr>
            </a:lvl1pPr>
          </a:lstStyle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3326" y="1996915"/>
            <a:ext cx="3375012" cy="2098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337" y="2753304"/>
            <a:ext cx="2281238" cy="107034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9533" y="1704975"/>
            <a:ext cx="1676716" cy="1762125"/>
          </a:xfrm>
          <a:prstGeom prst="rect">
            <a:avLst/>
          </a:prstGeom>
        </p:spPr>
      </p:pic>
      <p:sp>
        <p:nvSpPr>
          <p:cNvPr id="29" name="Прямоугольник 28"/>
          <p:cNvSpPr/>
          <p:nvPr/>
        </p:nvSpPr>
        <p:spPr>
          <a:xfrm>
            <a:off x="505621" y="222721"/>
            <a:ext cx="6476204" cy="931441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 smtClean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0E19636-1074-4947-905A-C45F0C67827C}"/>
              </a:ext>
            </a:extLst>
          </p:cNvPr>
          <p:cNvSpPr/>
          <p:nvPr/>
        </p:nvSpPr>
        <p:spPr>
          <a:xfrm>
            <a:off x="794885" y="468423"/>
            <a:ext cx="6300788" cy="49487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2400" dirty="0" smtClean="0">
                <a:solidFill>
                  <a:schemeClr val="bg1"/>
                </a:solidFill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Звуковые колебания</a:t>
            </a:r>
            <a:endParaRPr lang="ru-RU" sz="2400" dirty="0">
              <a:solidFill>
                <a:schemeClr val="bg1"/>
              </a:solidFill>
              <a:latin typeface="GPN_DIN Condensed Bold" panose="020B0706020202020204" pitchFamily="34" charset="-52"/>
              <a:ea typeface="GPN_DIN Condensed Bold" panose="020B0706020202020204" pitchFamily="34" charset="-52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" r="42581"/>
          <a:stretch/>
        </p:blipFill>
        <p:spPr>
          <a:xfrm>
            <a:off x="7479891" y="3467100"/>
            <a:ext cx="165600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813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7208566-BC53-4561-8157-C1EB2B0A850C}"/>
              </a:ext>
            </a:extLst>
          </p:cNvPr>
          <p:cNvSpPr/>
          <p:nvPr/>
        </p:nvSpPr>
        <p:spPr>
          <a:xfrm>
            <a:off x="505621" y="643603"/>
            <a:ext cx="9981404" cy="5034915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408439" y="325127"/>
            <a:ext cx="11375124" cy="610499"/>
          </a:xfrm>
        </p:spPr>
        <p:txBody>
          <a:bodyPr tIns="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0"/>
              </a:spcBef>
              <a:buNone/>
              <a:defRPr lang="ru-RU" sz="2800" b="0" i="0" u="none" strike="noStrike" cap="all" spc="0">
                <a:ln>
                  <a:noFill/>
                </a:ln>
                <a:solidFill>
                  <a:srgbClr val="7E7E7E"/>
                </a:solidFill>
                <a:latin typeface="GPN_DIN Condensed Medium"/>
                <a:ea typeface="GPN_DIN Condensed Medium"/>
                <a:cs typeface="+mj-cs"/>
              </a:defRPr>
            </a:lvl1pPr>
          </a:lstStyle>
          <a:p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177" y="1223383"/>
            <a:ext cx="938664" cy="954797"/>
          </a:xfrm>
          <a:prstGeom prst="rect">
            <a:avLst/>
          </a:prstGeom>
        </p:spPr>
      </p:pic>
      <p:sp>
        <p:nvSpPr>
          <p:cNvPr id="29" name="Прямоугольник 28"/>
          <p:cNvSpPr/>
          <p:nvPr/>
        </p:nvSpPr>
        <p:spPr>
          <a:xfrm>
            <a:off x="505621" y="222721"/>
            <a:ext cx="6476204" cy="931441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 smtClean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0E19636-1074-4947-905A-C45F0C67827C}"/>
              </a:ext>
            </a:extLst>
          </p:cNvPr>
          <p:cNvSpPr/>
          <p:nvPr/>
        </p:nvSpPr>
        <p:spPr>
          <a:xfrm>
            <a:off x="794885" y="468423"/>
            <a:ext cx="6300788" cy="53553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2400" dirty="0" smtClean="0">
                <a:solidFill>
                  <a:schemeClr val="bg1"/>
                </a:solidFill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Слабые звуковые колебания</a:t>
            </a:r>
            <a:endParaRPr lang="ru-RU" sz="2400" dirty="0">
              <a:solidFill>
                <a:schemeClr val="bg1"/>
              </a:solidFill>
              <a:latin typeface="GPN_DIN Condensed Bold" panose="020B0706020202020204" pitchFamily="34" charset="-52"/>
              <a:ea typeface="GPN_DIN Condensed Bold" panose="020B0706020202020204" pitchFamily="34" charset="-52"/>
              <a:cs typeface="Arial" panose="020B0604020202020204" pitchFamily="34" charset="0"/>
            </a:endParaRPr>
          </a:p>
        </p:txBody>
      </p:sp>
      <p:pic>
        <p:nvPicPr>
          <p:cNvPr id="3074" name="Picture 2" descr="https://habrastorage.org/r/w1560/webt/n4/6c/i4/n46ci4cfgtfn1sus-m_m_6qt6w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435" y="2968858"/>
            <a:ext cx="2853485" cy="2211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Прямая со стрелкой 11"/>
          <p:cNvCxnSpPr/>
          <p:nvPr/>
        </p:nvCxnSpPr>
        <p:spPr>
          <a:xfrm>
            <a:off x="5605879" y="2178180"/>
            <a:ext cx="747296" cy="256628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C0F1EDE-F121-43AB-A857-9A36AFC1C5D6}"/>
              </a:ext>
            </a:extLst>
          </p:cNvPr>
          <p:cNvSpPr txBox="1"/>
          <p:nvPr/>
        </p:nvSpPr>
        <p:spPr>
          <a:xfrm>
            <a:off x="954045" y="2247402"/>
            <a:ext cx="3244028" cy="374812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algn="ctr">
              <a:spcBef>
                <a:spcPts val="1200"/>
              </a:spcBef>
            </a:pPr>
            <a:r>
              <a:rPr lang="ru-RU" dirty="0" smtClean="0">
                <a:cs typeface="Arial" panose="020B0604020202020204" pitchFamily="34" charset="0"/>
              </a:rPr>
              <a:t>Животные с большими ушными раковинами</a:t>
            </a:r>
            <a:endParaRPr lang="ru-RU" dirty="0"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0F1EDE-F121-43AB-A857-9A36AFC1C5D6}"/>
              </a:ext>
            </a:extLst>
          </p:cNvPr>
          <p:cNvSpPr txBox="1"/>
          <p:nvPr/>
        </p:nvSpPr>
        <p:spPr>
          <a:xfrm>
            <a:off x="6755154" y="2215070"/>
            <a:ext cx="2094044" cy="374812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algn="ctr">
              <a:spcBef>
                <a:spcPts val="1200"/>
              </a:spcBef>
            </a:pPr>
            <a:r>
              <a:rPr lang="ru-RU" dirty="0" smtClean="0">
                <a:cs typeface="Arial" panose="020B0604020202020204" pitchFamily="34" charset="0"/>
              </a:rPr>
              <a:t>Колонка с ушами</a:t>
            </a:r>
            <a:endParaRPr lang="ru-RU" dirty="0">
              <a:cs typeface="Arial" panose="020B0604020202020204" pitchFamily="34" charset="0"/>
            </a:endParaRPr>
          </a:p>
        </p:txBody>
      </p:sp>
      <p:pic>
        <p:nvPicPr>
          <p:cNvPr id="16" name="Рисунок 15" descr="https://habrastorage.org/r/w1560/webt/x-/pu/nt/x-puntqkk_bmovz1vqlfotnee84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553" y="2589882"/>
            <a:ext cx="3493770" cy="28454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Прямая со стрелкой 18"/>
          <p:cNvCxnSpPr/>
          <p:nvPr/>
        </p:nvCxnSpPr>
        <p:spPr>
          <a:xfrm flipH="1">
            <a:off x="3945279" y="2178180"/>
            <a:ext cx="713330" cy="387969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982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7208566-BC53-4561-8157-C1EB2B0A850C}"/>
              </a:ext>
            </a:extLst>
          </p:cNvPr>
          <p:cNvSpPr/>
          <p:nvPr/>
        </p:nvSpPr>
        <p:spPr>
          <a:xfrm>
            <a:off x="505621" y="643603"/>
            <a:ext cx="9981404" cy="5509547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408439" y="325127"/>
            <a:ext cx="11375124" cy="610499"/>
          </a:xfrm>
        </p:spPr>
        <p:txBody>
          <a:bodyPr tIns="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0"/>
              </a:spcBef>
              <a:buNone/>
              <a:defRPr lang="ru-RU" sz="2800" b="0" i="0" u="none" strike="noStrike" cap="all" spc="0">
                <a:ln>
                  <a:noFill/>
                </a:ln>
                <a:solidFill>
                  <a:srgbClr val="7E7E7E"/>
                </a:solidFill>
                <a:latin typeface="GPN_DIN Condensed Medium"/>
                <a:ea typeface="GPN_DIN Condensed Medium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505621" y="222721"/>
            <a:ext cx="6476204" cy="931441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 smtClean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0E19636-1074-4947-905A-C45F0C67827C}"/>
              </a:ext>
            </a:extLst>
          </p:cNvPr>
          <p:cNvSpPr/>
          <p:nvPr/>
        </p:nvSpPr>
        <p:spPr>
          <a:xfrm>
            <a:off x="794885" y="468423"/>
            <a:ext cx="6300788" cy="49487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2400" dirty="0" smtClean="0">
                <a:solidFill>
                  <a:schemeClr val="bg1"/>
                </a:solidFill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Микрофонная матрица</a:t>
            </a:r>
            <a:endParaRPr lang="ru-RU" sz="2400" dirty="0">
              <a:solidFill>
                <a:schemeClr val="bg1"/>
              </a:solidFill>
              <a:latin typeface="GPN_DIN Condensed Bold" panose="020B0706020202020204" pitchFamily="34" charset="-52"/>
              <a:ea typeface="GPN_DIN Condensed Bold" panose="020B0706020202020204" pitchFamily="34" charset="-52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51" y="1791114"/>
            <a:ext cx="7700962" cy="404207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C0F1EDE-F121-43AB-A857-9A36AFC1C5D6}"/>
              </a:ext>
            </a:extLst>
          </p:cNvPr>
          <p:cNvSpPr txBox="1"/>
          <p:nvPr/>
        </p:nvSpPr>
        <p:spPr>
          <a:xfrm>
            <a:off x="1000609" y="4758771"/>
            <a:ext cx="1730178" cy="374812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algn="ctr">
              <a:spcBef>
                <a:spcPts val="1200"/>
              </a:spcBef>
            </a:pPr>
            <a:r>
              <a:rPr lang="ru-RU" dirty="0" smtClean="0">
                <a:cs typeface="Arial" panose="020B0604020202020204" pitchFamily="34" charset="0"/>
              </a:rPr>
              <a:t>Помехи и/или</a:t>
            </a:r>
            <a:r>
              <a:rPr lang="ru-RU" dirty="0" smtClean="0">
                <a:solidFill>
                  <a:schemeClr val="accent4"/>
                </a:solidFill>
                <a:cs typeface="Arial" panose="020B0604020202020204" pitchFamily="34" charset="0"/>
              </a:rPr>
              <a:t/>
            </a:r>
            <a:br>
              <a:rPr lang="ru-RU" dirty="0" smtClean="0">
                <a:solidFill>
                  <a:schemeClr val="accent4"/>
                </a:solidFill>
                <a:cs typeface="Arial" panose="020B0604020202020204" pitchFamily="34" charset="0"/>
              </a:rPr>
            </a:br>
            <a:r>
              <a:rPr lang="ru-RU" dirty="0" smtClean="0">
                <a:cs typeface="Arial" panose="020B0604020202020204" pitchFamily="34" charset="0"/>
              </a:rPr>
              <a:t>отраженный </a:t>
            </a:r>
            <a:r>
              <a:rPr lang="ru-RU" dirty="0" smtClean="0">
                <a:cs typeface="Arial" panose="020B0604020202020204" pitchFamily="34" charset="0"/>
              </a:rPr>
              <a:t>сигнал</a:t>
            </a:r>
            <a:endParaRPr lang="ru-RU" dirty="0"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0F1EDE-F121-43AB-A857-9A36AFC1C5D6}"/>
              </a:ext>
            </a:extLst>
          </p:cNvPr>
          <p:cNvSpPr txBox="1"/>
          <p:nvPr/>
        </p:nvSpPr>
        <p:spPr>
          <a:xfrm>
            <a:off x="1381610" y="1959610"/>
            <a:ext cx="1349177" cy="374812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algn="ctr">
              <a:spcBef>
                <a:spcPts val="1200"/>
              </a:spcBef>
            </a:pPr>
            <a:r>
              <a:rPr lang="ru-RU" dirty="0" smtClean="0">
                <a:cs typeface="Arial" panose="020B0604020202020204" pitchFamily="34" charset="0"/>
              </a:rPr>
              <a:t>Полезный</a:t>
            </a:r>
            <a:r>
              <a:rPr lang="ru-RU" dirty="0" smtClean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lang="ru-RU" dirty="0" smtClean="0">
                <a:cs typeface="Arial" panose="020B0604020202020204" pitchFamily="34" charset="0"/>
              </a:rPr>
              <a:t>сигнал</a:t>
            </a:r>
            <a:endParaRPr lang="ru-RU" dirty="0"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0F1EDE-F121-43AB-A857-9A36AFC1C5D6}"/>
              </a:ext>
            </a:extLst>
          </p:cNvPr>
          <p:cNvSpPr txBox="1"/>
          <p:nvPr/>
        </p:nvSpPr>
        <p:spPr>
          <a:xfrm>
            <a:off x="5259729" y="1634838"/>
            <a:ext cx="1349177" cy="374812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algn="ctr">
              <a:spcBef>
                <a:spcPts val="1200"/>
              </a:spcBef>
            </a:pPr>
            <a:r>
              <a:rPr lang="ru-RU" dirty="0" smtClean="0">
                <a:cs typeface="Arial" panose="020B0604020202020204" pitchFamily="34" charset="0"/>
              </a:rPr>
              <a:t>Задержка</a:t>
            </a:r>
            <a:r>
              <a:rPr lang="ru-RU" dirty="0" smtClean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lang="ru-RU" dirty="0" smtClean="0">
                <a:cs typeface="Arial" panose="020B0604020202020204" pitchFamily="34" charset="0"/>
              </a:rPr>
              <a:t>сигнала</a:t>
            </a:r>
            <a:endParaRPr lang="ru-RU" dirty="0"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0F1EDE-F121-43AB-A857-9A36AFC1C5D6}"/>
              </a:ext>
            </a:extLst>
          </p:cNvPr>
          <p:cNvSpPr txBox="1"/>
          <p:nvPr/>
        </p:nvSpPr>
        <p:spPr>
          <a:xfrm>
            <a:off x="6489871" y="1724115"/>
            <a:ext cx="1806404" cy="374812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algn="ctr">
              <a:spcBef>
                <a:spcPts val="1200"/>
              </a:spcBef>
            </a:pPr>
            <a:r>
              <a:rPr lang="ru-RU" dirty="0" smtClean="0">
                <a:cs typeface="Arial" panose="020B0604020202020204" pitchFamily="34" charset="0"/>
              </a:rPr>
              <a:t>Задержанный</a:t>
            </a:r>
            <a:r>
              <a:rPr lang="ru-RU" dirty="0" smtClean="0">
                <a:solidFill>
                  <a:schemeClr val="accent4"/>
                </a:solidFill>
                <a:cs typeface="Arial" panose="020B0604020202020204" pitchFamily="34" charset="0"/>
              </a:rPr>
              <a:t> </a:t>
            </a:r>
            <a:r>
              <a:rPr lang="ru-RU" dirty="0" smtClean="0">
                <a:cs typeface="Arial" panose="020B0604020202020204" pitchFamily="34" charset="0"/>
              </a:rPr>
              <a:t>сигнал</a:t>
            </a:r>
            <a:endParaRPr lang="ru-RU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620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7208566-BC53-4561-8157-C1EB2B0A850C}"/>
              </a:ext>
            </a:extLst>
          </p:cNvPr>
          <p:cNvSpPr/>
          <p:nvPr/>
        </p:nvSpPr>
        <p:spPr>
          <a:xfrm>
            <a:off x="505620" y="615028"/>
            <a:ext cx="10943429" cy="5509547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408439" y="325127"/>
            <a:ext cx="11375124" cy="610499"/>
          </a:xfrm>
        </p:spPr>
        <p:txBody>
          <a:bodyPr tIns="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0"/>
              </a:spcBef>
              <a:buNone/>
              <a:defRPr lang="ru-RU" sz="2800" b="0" i="0" u="none" strike="noStrike" cap="all" spc="0">
                <a:ln>
                  <a:noFill/>
                </a:ln>
                <a:solidFill>
                  <a:srgbClr val="7E7E7E"/>
                </a:solidFill>
                <a:latin typeface="GPN_DIN Condensed Medium"/>
                <a:ea typeface="GPN_DIN Condensed Medium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505621" y="222721"/>
            <a:ext cx="6476204" cy="931441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 smtClean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0E19636-1074-4947-905A-C45F0C67827C}"/>
              </a:ext>
            </a:extLst>
          </p:cNvPr>
          <p:cNvSpPr/>
          <p:nvPr/>
        </p:nvSpPr>
        <p:spPr>
          <a:xfrm>
            <a:off x="794885" y="468423"/>
            <a:ext cx="6300788" cy="49487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1">
              <a:lnSpc>
                <a:spcPct val="120000"/>
              </a:lnSpc>
            </a:pPr>
            <a:r>
              <a:rPr lang="ru-RU" sz="2400" dirty="0" smtClean="0">
                <a:solidFill>
                  <a:schemeClr val="bg1"/>
                </a:solidFill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А</a:t>
            </a:r>
            <a:r>
              <a:rPr lang="en-US" sz="2400" dirty="0" smtClean="0">
                <a:solidFill>
                  <a:schemeClr val="bg1"/>
                </a:solidFill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udio </a:t>
            </a:r>
            <a:r>
              <a:rPr lang="en-US" sz="2400" dirty="0">
                <a:solidFill>
                  <a:schemeClr val="bg1"/>
                </a:solidFill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front-end - AFE</a:t>
            </a:r>
            <a:endParaRPr lang="ru-RU" sz="2400" dirty="0">
              <a:solidFill>
                <a:schemeClr val="bg1"/>
              </a:solidFill>
              <a:latin typeface="GPN_DIN Condensed Bold" panose="020B0706020202020204" pitchFamily="34" charset="-52"/>
              <a:ea typeface="GPN_DIN Condensed Bold" panose="020B0706020202020204" pitchFamily="34" charset="-52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871989" y="1800225"/>
            <a:ext cx="1109211" cy="2314576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 smtClean="0">
              <a:solidFill>
                <a:schemeClr val="tx1"/>
              </a:solidFill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0E19636-1074-4947-905A-C45F0C67827C}"/>
              </a:ext>
            </a:extLst>
          </p:cNvPr>
          <p:cNvSpPr/>
          <p:nvPr/>
        </p:nvSpPr>
        <p:spPr>
          <a:xfrm rot="16200000">
            <a:off x="25132" y="2548347"/>
            <a:ext cx="2752722" cy="105900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1" algn="ctr">
              <a:lnSpc>
                <a:spcPct val="120000"/>
              </a:lnSpc>
            </a:pPr>
            <a:r>
              <a:rPr lang="ru-RU" dirty="0" smtClean="0">
                <a:solidFill>
                  <a:schemeClr val="bg1"/>
                </a:solidFill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Аудиоданные от микрофонной матрицы</a:t>
            </a:r>
            <a:endParaRPr lang="ru-RU" dirty="0">
              <a:solidFill>
                <a:schemeClr val="bg1"/>
              </a:solidFill>
              <a:latin typeface="GPN_DIN Condensed Bold" panose="020B0706020202020204" pitchFamily="34" charset="-52"/>
              <a:ea typeface="GPN_DIN Condensed Bold" panose="020B0706020202020204" pitchFamily="34" charset="-52"/>
              <a:cs typeface="Arial" panose="020B0604020202020204" pitchFamily="34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2242147" y="1832599"/>
            <a:ext cx="1890348" cy="219123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 smtClean="0">
              <a:solidFill>
                <a:schemeClr val="tx1"/>
              </a:solidFill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0E19636-1074-4947-905A-C45F0C67827C}"/>
              </a:ext>
            </a:extLst>
          </p:cNvPr>
          <p:cNvSpPr/>
          <p:nvPr/>
        </p:nvSpPr>
        <p:spPr>
          <a:xfrm>
            <a:off x="1930998" y="2180963"/>
            <a:ext cx="2201496" cy="156966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1" algn="ctr">
              <a:lnSpc>
                <a:spcPct val="120000"/>
              </a:lnSpc>
            </a:pPr>
            <a:r>
              <a:rPr lang="en-US" sz="2000" dirty="0" smtClean="0">
                <a:solidFill>
                  <a:schemeClr val="bg1"/>
                </a:solidFill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AEC </a:t>
            </a:r>
            <a:endParaRPr lang="ru-RU" sz="2000" dirty="0" smtClean="0">
              <a:solidFill>
                <a:schemeClr val="bg1"/>
              </a:solidFill>
              <a:latin typeface="GPN_DIN Condensed Bold" panose="020B0706020202020204" pitchFamily="34" charset="-52"/>
              <a:ea typeface="GPN_DIN Condensed Bold" panose="020B0706020202020204" pitchFamily="34" charset="-52"/>
              <a:cs typeface="Arial" panose="020B0604020202020204" pitchFamily="34" charset="0"/>
            </a:endParaRPr>
          </a:p>
          <a:p>
            <a:pPr lvl="1" algn="ctr">
              <a:lnSpc>
                <a:spcPct val="120000"/>
              </a:lnSpc>
            </a:pPr>
            <a:r>
              <a:rPr lang="ru-RU" sz="2000" dirty="0" smtClean="0">
                <a:solidFill>
                  <a:schemeClr val="bg1"/>
                </a:solidFill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подавление акустического эха</a:t>
            </a:r>
            <a:endParaRPr lang="ru-RU" sz="2000" dirty="0">
              <a:solidFill>
                <a:schemeClr val="bg1"/>
              </a:solidFill>
              <a:latin typeface="GPN_DIN Condensed Bold" panose="020B0706020202020204" pitchFamily="34" charset="-52"/>
              <a:ea typeface="GPN_DIN Condensed Bold" panose="020B0706020202020204" pitchFamily="34" charset="-52"/>
              <a:cs typeface="Arial" panose="020B0604020202020204" pitchFamily="34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4395962" y="1833081"/>
            <a:ext cx="1529172" cy="219123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 smtClean="0">
              <a:solidFill>
                <a:schemeClr val="tx1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0E19636-1074-4947-905A-C45F0C67827C}"/>
              </a:ext>
            </a:extLst>
          </p:cNvPr>
          <p:cNvSpPr/>
          <p:nvPr/>
        </p:nvSpPr>
        <p:spPr>
          <a:xfrm>
            <a:off x="3861363" y="1996779"/>
            <a:ext cx="2201496" cy="156966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1" algn="ctr">
              <a:lnSpc>
                <a:spcPct val="120000"/>
              </a:lnSpc>
            </a:pPr>
            <a:r>
              <a:rPr lang="en-US" sz="2000" dirty="0" smtClean="0">
                <a:solidFill>
                  <a:schemeClr val="bg1"/>
                </a:solidFill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BSS </a:t>
            </a:r>
            <a:endParaRPr lang="ru-RU" sz="2000" dirty="0" smtClean="0">
              <a:solidFill>
                <a:schemeClr val="bg1"/>
              </a:solidFill>
              <a:latin typeface="GPN_DIN Condensed Bold" panose="020B0706020202020204" pitchFamily="34" charset="-52"/>
              <a:ea typeface="GPN_DIN Condensed Bold" panose="020B0706020202020204" pitchFamily="34" charset="-52"/>
              <a:cs typeface="Arial" panose="020B0604020202020204" pitchFamily="34" charset="0"/>
            </a:endParaRPr>
          </a:p>
          <a:p>
            <a:pPr lvl="1" algn="ctr">
              <a:lnSpc>
                <a:spcPct val="120000"/>
              </a:lnSpc>
            </a:pPr>
            <a:r>
              <a:rPr lang="ru-RU" sz="2000" dirty="0" smtClean="0">
                <a:solidFill>
                  <a:schemeClr val="bg1"/>
                </a:solidFill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отделение источника </a:t>
            </a:r>
            <a:endParaRPr lang="en-US" sz="2000" dirty="0" smtClean="0">
              <a:solidFill>
                <a:schemeClr val="bg1"/>
              </a:solidFill>
              <a:latin typeface="GPN_DIN Condensed Bold" panose="020B0706020202020204" pitchFamily="34" charset="-52"/>
              <a:ea typeface="GPN_DIN Condensed Bold" panose="020B0706020202020204" pitchFamily="34" charset="-52"/>
              <a:cs typeface="Arial" panose="020B0604020202020204" pitchFamily="34" charset="0"/>
            </a:endParaRPr>
          </a:p>
          <a:p>
            <a:pPr lvl="1" algn="ctr">
              <a:lnSpc>
                <a:spcPct val="120000"/>
              </a:lnSpc>
            </a:pPr>
            <a:r>
              <a:rPr lang="ru-RU" sz="2000" dirty="0" smtClean="0">
                <a:solidFill>
                  <a:schemeClr val="bg1"/>
                </a:solidFill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звука от помех</a:t>
            </a:r>
            <a:endParaRPr lang="ru-RU" sz="2000" dirty="0">
              <a:solidFill>
                <a:schemeClr val="bg1"/>
              </a:solidFill>
              <a:latin typeface="GPN_DIN Condensed Bold" panose="020B0706020202020204" pitchFamily="34" charset="-52"/>
              <a:ea typeface="GPN_DIN Condensed Bold" panose="020B0706020202020204" pitchFamily="34" charset="-52"/>
              <a:cs typeface="Arial" panose="020B0604020202020204" pitchFamily="34" charset="0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6219626" y="1832599"/>
            <a:ext cx="1457325" cy="219123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 smtClean="0">
              <a:solidFill>
                <a:schemeClr val="tx1"/>
              </a:solidFill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0E19636-1074-4947-905A-C45F0C67827C}"/>
              </a:ext>
            </a:extLst>
          </p:cNvPr>
          <p:cNvSpPr/>
          <p:nvPr/>
        </p:nvSpPr>
        <p:spPr>
          <a:xfrm>
            <a:off x="5695073" y="2180963"/>
            <a:ext cx="2201496" cy="156966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1" algn="ctr">
              <a:lnSpc>
                <a:spcPct val="120000"/>
              </a:lnSpc>
            </a:pPr>
            <a:r>
              <a:rPr lang="en-US" sz="2000" dirty="0" smtClean="0">
                <a:solidFill>
                  <a:schemeClr val="bg1"/>
                </a:solidFill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VAD</a:t>
            </a:r>
            <a:endParaRPr lang="ru-RU" sz="2000" dirty="0" smtClean="0">
              <a:solidFill>
                <a:schemeClr val="bg1"/>
              </a:solidFill>
              <a:latin typeface="GPN_DIN Condensed Bold" panose="020B0706020202020204" pitchFamily="34" charset="-52"/>
              <a:ea typeface="GPN_DIN Condensed Bold" panose="020B0706020202020204" pitchFamily="34" charset="-52"/>
              <a:cs typeface="Arial" panose="020B0604020202020204" pitchFamily="34" charset="0"/>
            </a:endParaRPr>
          </a:p>
          <a:p>
            <a:pPr lvl="1" algn="ctr">
              <a:lnSpc>
                <a:spcPct val="120000"/>
              </a:lnSpc>
            </a:pPr>
            <a:r>
              <a:rPr lang="ru-RU" sz="2000" dirty="0" smtClean="0">
                <a:solidFill>
                  <a:schemeClr val="bg1"/>
                </a:solidFill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отделение голоса от</a:t>
            </a:r>
            <a:endParaRPr lang="en-US" sz="2000" dirty="0" smtClean="0">
              <a:solidFill>
                <a:schemeClr val="bg1"/>
              </a:solidFill>
              <a:latin typeface="GPN_DIN Condensed Bold" panose="020B0706020202020204" pitchFamily="34" charset="-52"/>
              <a:ea typeface="GPN_DIN Condensed Bold" panose="020B0706020202020204" pitchFamily="34" charset="-52"/>
              <a:cs typeface="Arial" panose="020B0604020202020204" pitchFamily="34" charset="0"/>
            </a:endParaRPr>
          </a:p>
          <a:p>
            <a:pPr lvl="1" algn="ctr">
              <a:lnSpc>
                <a:spcPct val="120000"/>
              </a:lnSpc>
            </a:pPr>
            <a:r>
              <a:rPr lang="ru-RU" sz="2000" dirty="0" smtClean="0">
                <a:solidFill>
                  <a:schemeClr val="bg1"/>
                </a:solidFill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 помех</a:t>
            </a:r>
            <a:endParaRPr lang="ru-RU" sz="2000" dirty="0">
              <a:solidFill>
                <a:schemeClr val="bg1"/>
              </a:solidFill>
              <a:latin typeface="GPN_DIN Condensed Bold" panose="020B0706020202020204" pitchFamily="34" charset="-52"/>
              <a:ea typeface="GPN_DIN Condensed Bold" panose="020B0706020202020204" pitchFamily="34" charset="-52"/>
              <a:cs typeface="Arial" panose="020B0604020202020204" pitchFamily="34" charset="0"/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7859952" y="1832599"/>
            <a:ext cx="1457325" cy="219123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 smtClean="0">
              <a:solidFill>
                <a:schemeClr val="tx1"/>
              </a:solidFill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70E19636-1074-4947-905A-C45F0C67827C}"/>
              </a:ext>
            </a:extLst>
          </p:cNvPr>
          <p:cNvSpPr/>
          <p:nvPr/>
        </p:nvSpPr>
        <p:spPr>
          <a:xfrm>
            <a:off x="7335399" y="2180963"/>
            <a:ext cx="2201496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1" algn="ctr">
              <a:lnSpc>
                <a:spcPct val="120000"/>
              </a:lnSpc>
            </a:pPr>
            <a:r>
              <a:rPr lang="ru-RU" sz="2000" dirty="0" smtClean="0">
                <a:solidFill>
                  <a:schemeClr val="bg1"/>
                </a:solidFill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АРУ </a:t>
            </a:r>
            <a:endParaRPr lang="en-US" sz="2000" dirty="0" smtClean="0">
              <a:solidFill>
                <a:schemeClr val="bg1"/>
              </a:solidFill>
              <a:latin typeface="GPN_DIN Condensed Bold" panose="020B0706020202020204" pitchFamily="34" charset="-52"/>
              <a:ea typeface="GPN_DIN Condensed Bold" panose="020B0706020202020204" pitchFamily="34" charset="-52"/>
              <a:cs typeface="Arial" panose="020B0604020202020204" pitchFamily="34" charset="0"/>
            </a:endParaRPr>
          </a:p>
          <a:p>
            <a:pPr lvl="1" algn="ctr">
              <a:lnSpc>
                <a:spcPct val="120000"/>
              </a:lnSpc>
            </a:pPr>
            <a:r>
              <a:rPr lang="ru-RU" sz="2000" dirty="0" smtClean="0">
                <a:solidFill>
                  <a:schemeClr val="bg1"/>
                </a:solidFill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усиление/</a:t>
            </a:r>
          </a:p>
          <a:p>
            <a:pPr lvl="1" algn="ctr">
              <a:lnSpc>
                <a:spcPct val="120000"/>
              </a:lnSpc>
            </a:pPr>
            <a:r>
              <a:rPr lang="ru-RU" sz="2000" dirty="0" smtClean="0">
                <a:solidFill>
                  <a:schemeClr val="bg1"/>
                </a:solidFill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ослабление</a:t>
            </a:r>
          </a:p>
        </p:txBody>
      </p:sp>
      <p:sp>
        <p:nvSpPr>
          <p:cNvPr id="2" name="Штриховая стрелка вправо 1"/>
          <p:cNvSpPr/>
          <p:nvPr/>
        </p:nvSpPr>
        <p:spPr bwMode="auto">
          <a:xfrm>
            <a:off x="1926545" y="2638425"/>
            <a:ext cx="315602" cy="552450"/>
          </a:xfrm>
          <a:prstGeom prst="stripedRightArrow">
            <a:avLst/>
          </a:pr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Штриховая стрелка вправо 26"/>
          <p:cNvSpPr/>
          <p:nvPr/>
        </p:nvSpPr>
        <p:spPr bwMode="auto">
          <a:xfrm>
            <a:off x="4136182" y="2651990"/>
            <a:ext cx="315602" cy="552450"/>
          </a:xfrm>
          <a:prstGeom prst="stripedRightArrow">
            <a:avLst/>
          </a:pr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Штриховая стрелка вправо 27"/>
          <p:cNvSpPr/>
          <p:nvPr/>
        </p:nvSpPr>
        <p:spPr bwMode="auto">
          <a:xfrm>
            <a:off x="5938200" y="2638425"/>
            <a:ext cx="315602" cy="552450"/>
          </a:xfrm>
          <a:prstGeom prst="stripedRightArrow">
            <a:avLst/>
          </a:pr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Штриховая стрелка вправо 29"/>
          <p:cNvSpPr/>
          <p:nvPr/>
        </p:nvSpPr>
        <p:spPr bwMode="auto">
          <a:xfrm>
            <a:off x="7655869" y="2638425"/>
            <a:ext cx="315602" cy="552450"/>
          </a:xfrm>
          <a:prstGeom prst="stripedRightArrow">
            <a:avLst/>
          </a:pr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Штриховая стрелка вправо 31"/>
          <p:cNvSpPr/>
          <p:nvPr/>
        </p:nvSpPr>
        <p:spPr bwMode="auto">
          <a:xfrm>
            <a:off x="9331102" y="2638425"/>
            <a:ext cx="315602" cy="552450"/>
          </a:xfrm>
          <a:prstGeom prst="stripedRightArrow">
            <a:avLst/>
          </a:pr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70E19636-1074-4947-905A-C45F0C67827C}"/>
              </a:ext>
            </a:extLst>
          </p:cNvPr>
          <p:cNvSpPr/>
          <p:nvPr/>
        </p:nvSpPr>
        <p:spPr>
          <a:xfrm>
            <a:off x="9195680" y="2489985"/>
            <a:ext cx="2201496" cy="79707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1" algn="ctr">
              <a:lnSpc>
                <a:spcPct val="120000"/>
              </a:lnSpc>
            </a:pPr>
            <a:r>
              <a:rPr lang="ru-RU" sz="2000" dirty="0" smtClean="0"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очищенные</a:t>
            </a:r>
            <a:r>
              <a:rPr lang="ru-RU" sz="2000" dirty="0" smtClean="0">
                <a:solidFill>
                  <a:schemeClr val="accent4">
                    <a:lumMod val="75000"/>
                    <a:lumOff val="25000"/>
                  </a:schemeClr>
                </a:solidFill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 </a:t>
            </a:r>
            <a:r>
              <a:rPr lang="ru-RU" sz="2000" dirty="0" smtClean="0"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аудиоданные</a:t>
            </a:r>
            <a:endParaRPr lang="ru-RU" sz="2000" dirty="0">
              <a:latin typeface="GPN_DIN Condensed Bold" panose="020B0706020202020204" pitchFamily="34" charset="-52"/>
              <a:ea typeface="GPN_DIN Condensed Bold" panose="020B0706020202020204" pitchFamily="34" charset="-5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679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7208566-BC53-4561-8157-C1EB2B0A850C}"/>
              </a:ext>
            </a:extLst>
          </p:cNvPr>
          <p:cNvSpPr/>
          <p:nvPr/>
        </p:nvSpPr>
        <p:spPr>
          <a:xfrm>
            <a:off x="505620" y="615028"/>
            <a:ext cx="10943429" cy="5509547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408439" y="325127"/>
            <a:ext cx="11375124" cy="610499"/>
          </a:xfrm>
        </p:spPr>
        <p:txBody>
          <a:bodyPr tIns="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0"/>
              </a:spcBef>
              <a:buNone/>
              <a:defRPr lang="ru-RU" sz="2800" b="0" i="0" u="none" strike="noStrike" cap="all" spc="0">
                <a:ln>
                  <a:noFill/>
                </a:ln>
                <a:solidFill>
                  <a:srgbClr val="7E7E7E"/>
                </a:solidFill>
                <a:latin typeface="GPN_DIN Condensed Medium"/>
                <a:ea typeface="GPN_DIN Condensed Medium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505621" y="222721"/>
            <a:ext cx="6476204" cy="931441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 smtClean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0E19636-1074-4947-905A-C45F0C67827C}"/>
              </a:ext>
            </a:extLst>
          </p:cNvPr>
          <p:cNvSpPr/>
          <p:nvPr/>
        </p:nvSpPr>
        <p:spPr>
          <a:xfrm>
            <a:off x="794885" y="468423"/>
            <a:ext cx="6300788" cy="49487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1">
              <a:lnSpc>
                <a:spcPct val="120000"/>
              </a:lnSpc>
            </a:pPr>
            <a:r>
              <a:rPr lang="ru-RU" sz="2400" dirty="0" smtClean="0">
                <a:solidFill>
                  <a:schemeClr val="bg1"/>
                </a:solidFill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Нейросеть и звук</a:t>
            </a:r>
            <a:endParaRPr lang="ru-RU" sz="2400" dirty="0">
              <a:solidFill>
                <a:schemeClr val="bg1"/>
              </a:solidFill>
              <a:latin typeface="GPN_DIN Condensed Bold" panose="020B0706020202020204" pitchFamily="34" charset="-52"/>
              <a:ea typeface="GPN_DIN Condensed Bold" panose="020B0706020202020204" pitchFamily="34" charset="-52"/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825" y="2051194"/>
            <a:ext cx="3713148" cy="1882631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107" y="1647824"/>
            <a:ext cx="5905865" cy="2714626"/>
          </a:xfrm>
          <a:prstGeom prst="rect">
            <a:avLst/>
          </a:prstGeom>
        </p:spPr>
      </p:pic>
      <p:sp>
        <p:nvSpPr>
          <p:cNvPr id="33" name="Штриховая стрелка вправо 32"/>
          <p:cNvSpPr/>
          <p:nvPr/>
        </p:nvSpPr>
        <p:spPr bwMode="auto">
          <a:xfrm>
            <a:off x="4809175" y="2623415"/>
            <a:ext cx="315602" cy="552450"/>
          </a:xfrm>
          <a:prstGeom prst="stripedRightArrow">
            <a:avLst/>
          </a:prstGeom>
          <a:solidFill>
            <a:srgbClr val="00459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549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7208566-BC53-4561-8157-C1EB2B0A850C}"/>
              </a:ext>
            </a:extLst>
          </p:cNvPr>
          <p:cNvSpPr/>
          <p:nvPr/>
        </p:nvSpPr>
        <p:spPr>
          <a:xfrm>
            <a:off x="505620" y="615028"/>
            <a:ext cx="10943429" cy="5509547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408439" y="325127"/>
            <a:ext cx="11375124" cy="610499"/>
          </a:xfrm>
        </p:spPr>
        <p:txBody>
          <a:bodyPr tIns="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0"/>
              </a:spcBef>
              <a:buNone/>
              <a:defRPr lang="ru-RU" sz="2800" b="0" i="0" u="none" strike="noStrike" cap="all" spc="0">
                <a:ln>
                  <a:noFill/>
                </a:ln>
                <a:solidFill>
                  <a:srgbClr val="7E7E7E"/>
                </a:solidFill>
                <a:latin typeface="GPN_DIN Condensed Medium"/>
                <a:ea typeface="GPN_DIN Condensed Medium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505621" y="222721"/>
            <a:ext cx="6476204" cy="931441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 smtClean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0E19636-1074-4947-905A-C45F0C67827C}"/>
              </a:ext>
            </a:extLst>
          </p:cNvPr>
          <p:cNvSpPr/>
          <p:nvPr/>
        </p:nvSpPr>
        <p:spPr>
          <a:xfrm>
            <a:off x="794885" y="468423"/>
            <a:ext cx="6300788" cy="49487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1">
              <a:lnSpc>
                <a:spcPct val="120000"/>
              </a:lnSpc>
            </a:pPr>
            <a:r>
              <a:rPr lang="ru-RU" sz="2400" dirty="0" smtClean="0">
                <a:solidFill>
                  <a:schemeClr val="bg1"/>
                </a:solidFill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Устройство на китайских чипах</a:t>
            </a:r>
            <a:endParaRPr lang="ru-RU" sz="2400" dirty="0">
              <a:solidFill>
                <a:schemeClr val="bg1"/>
              </a:solidFill>
              <a:latin typeface="GPN_DIN Condensed Bold" panose="020B0706020202020204" pitchFamily="34" charset="-52"/>
              <a:ea typeface="GPN_DIN Condensed Bold" panose="020B0706020202020204" pitchFamily="34" charset="-52"/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599" y="1253203"/>
            <a:ext cx="6563487" cy="490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692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7208566-BC53-4561-8157-C1EB2B0A850C}"/>
              </a:ext>
            </a:extLst>
          </p:cNvPr>
          <p:cNvSpPr/>
          <p:nvPr/>
        </p:nvSpPr>
        <p:spPr>
          <a:xfrm>
            <a:off x="505620" y="723900"/>
            <a:ext cx="9428955" cy="50387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 bwMode="auto">
          <a:xfrm>
            <a:off x="408439" y="325127"/>
            <a:ext cx="11375124" cy="610499"/>
          </a:xfrm>
        </p:spPr>
        <p:txBody>
          <a:bodyPr tIns="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0"/>
              </a:spcBef>
              <a:buNone/>
              <a:defRPr lang="ru-RU" sz="2800" b="0" i="0" u="none" strike="noStrike" cap="all" spc="0">
                <a:ln>
                  <a:noFill/>
                </a:ln>
                <a:solidFill>
                  <a:srgbClr val="7E7E7E"/>
                </a:solidFill>
                <a:latin typeface="GPN_DIN Condensed Medium"/>
                <a:ea typeface="GPN_DIN Condensed Medium"/>
                <a:cs typeface="+mj-cs"/>
              </a:defRPr>
            </a:lvl1pPr>
          </a:lstStyle>
          <a:p>
            <a:endParaRPr lang="ru-RU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505621" y="222721"/>
            <a:ext cx="6476204" cy="931441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ru-RU" sz="1200" dirty="0" smtClean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0E19636-1074-4947-905A-C45F0C67827C}"/>
              </a:ext>
            </a:extLst>
          </p:cNvPr>
          <p:cNvSpPr/>
          <p:nvPr/>
        </p:nvSpPr>
        <p:spPr>
          <a:xfrm>
            <a:off x="593329" y="441001"/>
            <a:ext cx="6300788" cy="49487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1">
              <a:lnSpc>
                <a:spcPct val="120000"/>
              </a:lnSpc>
            </a:pPr>
            <a:r>
              <a:rPr lang="ru-RU" sz="2400" dirty="0" smtClean="0">
                <a:solidFill>
                  <a:schemeClr val="bg1"/>
                </a:solidFill>
                <a:latin typeface="GPN_DIN Condensed Bold" panose="020B0706020202020204" pitchFamily="34" charset="-52"/>
                <a:ea typeface="GPN_DIN Condensed Bold" panose="020B0706020202020204" pitchFamily="34" charset="-52"/>
                <a:cs typeface="Arial" panose="020B0604020202020204" pitchFamily="34" charset="0"/>
              </a:rPr>
              <a:t>Вопросы?</a:t>
            </a:r>
            <a:endParaRPr lang="ru-RU" sz="2400" dirty="0">
              <a:solidFill>
                <a:schemeClr val="bg1"/>
              </a:solidFill>
              <a:latin typeface="GPN_DIN Condensed Bold" panose="020B0706020202020204" pitchFamily="34" charset="-52"/>
              <a:ea typeface="GPN_DIN Condensed Bold" panose="020B0706020202020204" pitchFamily="34" charset="-52"/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786" y="1109017"/>
            <a:ext cx="7445772" cy="465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595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4400550"/>
            <a:ext cx="21336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382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167</Words>
  <Application>Microsoft Office PowerPoint</Application>
  <PresentationFormat>Широкоэкранный</PresentationFormat>
  <Paragraphs>52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GPN_DIN Condensed Bold</vt:lpstr>
      <vt:lpstr>GPN_DIN Condensed Medium</vt:lpstr>
      <vt:lpstr>GPN_DIN Condensed Regular</vt:lpstr>
      <vt:lpstr>PT Sans Narrow</vt:lpstr>
      <vt:lpstr>Wingdings</vt:lpstr>
      <vt:lpstr>Тема Office</vt:lpstr>
      <vt:lpstr>Как микроконтроллер в умных колонках работает с нейронными сетями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микроконтроллер в умных колонках работает с нейронными сетями</dc:title>
  <dc:creator>Admin</dc:creator>
  <cp:lastModifiedBy>Admin</cp:lastModifiedBy>
  <cp:revision>24</cp:revision>
  <dcterms:created xsi:type="dcterms:W3CDTF">2025-04-07T16:50:00Z</dcterms:created>
  <dcterms:modified xsi:type="dcterms:W3CDTF">2025-04-12T07:46:47Z</dcterms:modified>
</cp:coreProperties>
</file>